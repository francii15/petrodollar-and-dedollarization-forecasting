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PORTFOLIO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Petrodollar &amp; De-dollarization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C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world quietly stepping away from the US Dollar?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401568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oil trade and central-bank reserves have leaned on the US Dollar for decades. This project asks a simple question — is that reliance fading, and can the pace of that shift be measured and forecast using real economic data and machine learning?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3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 Infant  |  Data Science with Generative AI, Imarticus Learning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1417320"/>
            <a:ext cx="3703320" cy="4526280"/>
          </a:xfrm>
          <a:prstGeom prst="roundRect">
            <a:avLst>
              <a:gd name="adj" fmla="val 3200"/>
            </a:avLst>
          </a:prstGeom>
          <a:solidFill>
            <a:srgbClr val="1B2E5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8803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Years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046720" y="35661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monthly data across oil, OPEC, BRICS reserves, sovereign funds &amp; prices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3" name="Image 0" descr="/home/claude/work/icons_proces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5577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Solution Approach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25880" y="886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multi-source data to a validated forecasting framework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438912" cy="438912"/>
          </a:xfrm>
          <a:prstGeom prst="ellipse">
            <a:avLst/>
          </a:prstGeom>
          <a:solidFill>
            <a:srgbClr val="12274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98448" y="1453896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five real-world datasets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98448" y="1746504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trade &amp; production, OPEC quotas, BRICS reserves, sovereign wealth funds, and market prices — merged into one monthly panel spanning 2005–2025.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441448"/>
            <a:ext cx="438912" cy="438912"/>
          </a:xfrm>
          <a:prstGeom prst="ellipse">
            <a:avLst/>
          </a:prstGeom>
          <a:solidFill>
            <a:srgbClr val="12274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2386584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macroeconomic features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98448" y="2679192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OPEC production capacity, non-dollar trade ratios, reserve gaps, and rolling trend indicators.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374136"/>
            <a:ext cx="438912" cy="438912"/>
          </a:xfrm>
          <a:prstGeom prst="ellipse">
            <a:avLst/>
          </a:prstGeom>
          <a:solidFill>
            <a:srgbClr val="12274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98448" y="3319272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one De-dollarization Index using PCA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298448" y="3611880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five correlated signals into a single score — capturing 90.6% of their shared variance, and matching an independent benchmark index at 0.976 correlation.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306824"/>
            <a:ext cx="438912" cy="438912"/>
          </a:xfrm>
          <a:prstGeom prst="ellipse">
            <a:avLst/>
          </a:prstGeom>
          <a:solidFill>
            <a:srgbClr val="12274D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98448" y="4251960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four forecasting approaches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98448" y="4544568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persistence, trend extrapolation, Ridge regression, and a Trend + Random Forest hybrid — evaluated across 6, 12, 24 and 36-month horizons.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5239512"/>
            <a:ext cx="438912" cy="438912"/>
          </a:xfrm>
          <a:prstGeom prst="ellipse">
            <a:avLst/>
          </a:prstGeom>
          <a:solidFill>
            <a:srgbClr val="12274D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98448" y="5184648"/>
            <a:ext cx="10222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model on evidence, not complexity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298448" y="5477256"/>
            <a:ext cx="10222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that generalized best on MAE, RMSE and R² was chosen — not the most sophisticated-looking 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3" name="Image 0" descr="/home/claude/work/icons_glob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5577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The Shift Is Real, But Slow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325880" y="886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of reserve and oil-trade data tell one consistent story</a:t>
            </a:r>
            <a:endParaRPr lang="en-US" sz="1200" dirty="0"/>
          </a:p>
        </p:txBody>
      </p:sp>
      <p:pic>
        <p:nvPicPr>
          <p:cNvPr id="6" name="Image 1" descr="/home/claude/work/nb_images/cell16_re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532120" cy="3767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27608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vs. CNY share of global FX reserves (2005–2025)</a:t>
            </a:r>
            <a:endParaRPr lang="en-US" sz="1000" dirty="0"/>
          </a:p>
        </p:txBody>
      </p:sp>
      <p:sp>
        <p:nvSpPr>
          <p:cNvPr id="19" name="Marker Start"/>
          <p:cNvSpPr/>
          <p:nvPr/>
        </p:nvSpPr>
        <p:spPr>
          <a:xfrm>
            <a:off x="1270762" y="1821998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</p:sp>
      <p:sp>
        <p:nvSpPr>
          <p:cNvPr id="20" name="Label Start"/>
          <p:cNvSpPr/>
          <p:nvPr/>
        </p:nvSpPr>
        <p:spPr>
          <a:xfrm>
            <a:off x="1066482" y="1487718"/>
            <a:ext cx="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1200" dirty="0"/>
          </a:p>
        </p:txBody>
      </p:sp>
      <p:sp>
        <p:nvSpPr>
          <p:cNvPr id="21" name="Marker End"/>
          <p:cNvSpPr/>
          <p:nvPr/>
        </p:nvSpPr>
        <p:spPr>
          <a:xfrm>
            <a:off x="5814315" y="2216639"/>
            <a:ext cx="91440" cy="91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</p:sp>
      <p:sp>
        <p:nvSpPr>
          <p:cNvPr id="22" name="Label End"/>
          <p:cNvSpPr/>
          <p:nvPr/>
        </p:nvSpPr>
        <p:spPr>
          <a:xfrm>
            <a:off x="5560035" y="2378000"/>
            <a:ext cx="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46520" y="148132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29400" y="1609344"/>
            <a:ext cx="4754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  →  57%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629400" y="2275027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Slipping ~0.5 pt/year, every year since 2005.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46520" y="303580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29400" y="3163824"/>
            <a:ext cx="4754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629400" y="3829507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oil trade still invoiced in USD — the petro-anchor holds.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46520" y="459028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8A8A8A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629400" y="4718304"/>
            <a:ext cx="4754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~80×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629400" y="5383987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petroyuan futures growth since 2018 — fast, but off a tiny base.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610819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2274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61081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the dollar’s grip is loosening, not breaking. Oil-trade demand remains the dominant structural anchor for USD — a real shift here would surface in this data years before it hits the headlines.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3" name="Image 0" descr="/home/claude/work/icons_tren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5577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What The Model Tells Us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325880" y="886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winning forecasting model reveals about where de-dollarization is headed</a:t>
            </a:r>
            <a:endParaRPr lang="en-US" sz="1200" dirty="0"/>
          </a:p>
        </p:txBody>
      </p:sp>
      <p:pic>
        <p:nvPicPr>
          <p:cNvPr id="6" name="Image 1" descr="/home/claude/work/nb_images/cell47_top_re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28" y="1371600"/>
            <a:ext cx="6949440" cy="24659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21128" y="385581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De-dollarization index — 20 years of history plus a 3-year trend projection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40080" y="4148426"/>
            <a:ext cx="261747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4672" y="4313018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10" name="Image 2" descr="/home/claude/work/icons_trend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40445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4806794"/>
            <a:ext cx="228828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climbing — no reversal since 2005.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3394710" y="4148426"/>
            <a:ext cx="261747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559302" y="4313018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14" name="Image 3" descr="/home/claude/work/icons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42" y="440445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59302" y="4806794"/>
            <a:ext cx="228828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up to ~2 years ahead (90%+ explained).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49340" y="4148426"/>
            <a:ext cx="261747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313932" y="4313018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18" name="Image 4" descr="/home/claude/work/icons_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440445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13932" y="4806794"/>
            <a:ext cx="228828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momentum drives 59% of the forecast.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8903970" y="4148426"/>
            <a:ext cx="261747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9068562" y="4313018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22" name="Image 5" descr="/home/claude/work/icons_balanc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002" y="440445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068562" y="4806794"/>
            <a:ext cx="228828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eases naturally past 3 years out.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640080" y="571205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2274D"/>
          </a:solidFill>
          <a:ln/>
        </p:spPr>
      </p:sp>
      <p:sp>
        <p:nvSpPr>
          <p:cNvPr id="25" name="Text 17"/>
          <p:cNvSpPr/>
          <p:nvPr/>
        </p:nvSpPr>
        <p:spPr>
          <a:xfrm>
            <a:off x="960120" y="571205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the model isn’t just describing the past — it signals the drift away from the dollar is likely to continue steadily for at least the next two years.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3" name="Image 0" descr="/home/claude/work/icons_bulb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55778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Improvement Areas / Next Steps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25880" y="886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could go next — from portfolio project to production tool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737360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8" name="Image 1" descr="/home/claude/work/icons_databas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2128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Data Sources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41248" y="2560320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synthetic-filled figures for published IMF, EIA and BIS numbers to make every conclusion fully verifiable.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4370832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737360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13" name="Image 2" descr="/home/claude/work/icons_balanc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819656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2128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Bands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72000" y="2560320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plausible range around each forecast instead of a single best-guess line.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8101584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1737360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18" name="Image 3" descr="/home/claude/work/icons_timelin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181965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2752" y="22128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Re-validation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02752" y="2560320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predictions against new real-world months as they arrive, not just historical hold-out data.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40080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41248" y="4069080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23" name="Image 4" descr="/home/claude/work/icons_flag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15137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454456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Monitoring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841248" y="4892040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sudden moves from sanctions, wars, or surprise OPEC decisions that break the trend assumption.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4370832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72000" y="4069080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28" name="Image 5" descr="/home/claude/work/icons_globe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415137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0" y="454456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Signals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572000" y="4892040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central-bank gold buying and cross-border payment-rail data (CIPS, mBridge) to sharpen the story.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8101584" y="3886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8A8A8A">
                <a:alpha val="1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02752" y="4069080"/>
            <a:ext cx="384048" cy="384048"/>
          </a:xfrm>
          <a:prstGeom prst="ellipse">
            <a:avLst/>
          </a:prstGeom>
          <a:solidFill>
            <a:srgbClr val="12274D"/>
          </a:solidFill>
          <a:ln/>
        </p:spPr>
      </p:sp>
      <p:pic>
        <p:nvPicPr>
          <p:cNvPr id="33" name="Image 6" descr="/home/claude/work/icons_trend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8" y="4151376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02752" y="454456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2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8302752" y="4892040"/>
            <a:ext cx="3163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/ Tableau view with an adjustable trend-speed slider for scenario exploration.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Justification, Value &amp; Beneficiaries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1B2E57"/>
          </a:solidFill>
          <a:ln w="9525">
            <a:solidFill>
              <a:srgbClr val="C9A227"/>
            </a:solidFill>
            <a:prstDash val="solid"/>
          </a:ln>
        </p:spPr>
      </p:sp>
      <p:pic>
        <p:nvPicPr>
          <p:cNvPr id="6" name="Image 0" descr="/home/claude/work/icons_ch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10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09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measurable, trackable index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3000" y="1975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vague geopolitical narrative into a single number anyone can monitor over time.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1B2E57"/>
          </a:solidFill>
          <a:ln w="9525">
            <a:solidFill>
              <a:srgbClr val="C9A227"/>
            </a:solidFill>
            <a:prstDash val="solid"/>
          </a:ln>
        </p:spPr>
      </p:sp>
      <p:pic>
        <p:nvPicPr>
          <p:cNvPr id="10" name="Image 1" descr="/home/claude/work/icons_proces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877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honest ML pipeline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43000" y="27523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→ features → PCA → forecasting → transparent model comparison.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1B2E57"/>
          </a:solidFill>
          <a:ln w="9525">
            <a:solidFill>
              <a:srgbClr val="C9A227"/>
            </a:solidFill>
            <a:prstDash val="solid"/>
          </a:ln>
        </p:spPr>
      </p:sp>
      <p:pic>
        <p:nvPicPr>
          <p:cNvPr id="14" name="Image 2" descr="/home/claude/work/icons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36499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264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built and validated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43000" y="35295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executed, and stress-tested end-to-end as a self-directed project.</a:t>
            </a:r>
            <a:endParaRPr lang="en-US" sz="1030" dirty="0"/>
          </a:p>
        </p:txBody>
      </p:sp>
      <p:sp>
        <p:nvSpPr>
          <p:cNvPr id="17" name="Shape 12"/>
          <p:cNvSpPr/>
          <p:nvPr/>
        </p:nvSpPr>
        <p:spPr>
          <a:xfrm>
            <a:off x="640080" y="4114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1B2E5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868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Index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697480" y="41148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dozens of scattered indicators with one number leadership can track over time.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40080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— AND HOW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400800" y="17373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B2E57"/>
          </a:solidFill>
          <a:ln/>
        </p:spPr>
      </p:sp>
      <p:sp>
        <p:nvSpPr>
          <p:cNvPr id="22" name="Shape 17"/>
          <p:cNvSpPr/>
          <p:nvPr/>
        </p:nvSpPr>
        <p:spPr>
          <a:xfrm>
            <a:off x="6547104" y="1856232"/>
            <a:ext cx="329184" cy="329184"/>
          </a:xfrm>
          <a:prstGeom prst="ellipse">
            <a:avLst/>
          </a:prstGeom>
          <a:solidFill>
            <a:srgbClr val="0B1B36"/>
          </a:solidFill>
          <a:ln w="7620">
            <a:solidFill>
              <a:srgbClr val="C9A227"/>
            </a:solidFill>
            <a:prstDash val="solid"/>
          </a:ln>
        </p:spPr>
      </p:sp>
      <p:pic>
        <p:nvPicPr>
          <p:cNvPr id="23" name="Image 3" descr="/home/claude/work/icons_char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95681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22592" y="17922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&amp; Asset Managers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022592" y="20756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on shifting dollar exposure across portfolios.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6400800" y="26517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B2E57"/>
          </a:solidFill>
          <a:ln/>
        </p:spPr>
      </p:sp>
      <p:sp>
        <p:nvSpPr>
          <p:cNvPr id="27" name="Shape 21"/>
          <p:cNvSpPr/>
          <p:nvPr/>
        </p:nvSpPr>
        <p:spPr>
          <a:xfrm>
            <a:off x="6547104" y="2770632"/>
            <a:ext cx="329184" cy="329184"/>
          </a:xfrm>
          <a:prstGeom prst="ellipse">
            <a:avLst/>
          </a:prstGeom>
          <a:solidFill>
            <a:srgbClr val="0B1B36"/>
          </a:solidFill>
          <a:ln w="7620">
            <a:solidFill>
              <a:srgbClr val="C9A227"/>
            </a:solidFill>
            <a:prstDash val="solid"/>
          </a:ln>
        </p:spPr>
      </p:sp>
      <p:pic>
        <p:nvPicPr>
          <p:cNvPr id="28" name="Image 4" descr="/home/claude/work/icons_glob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87121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22592" y="2706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Central Bank Teams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022592" y="29900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quantifiable way to monitor de-dollarization instead of relying on headlines.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6400800" y="35661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B2E57"/>
          </a:solidFill>
          <a:ln/>
        </p:spPr>
      </p:sp>
      <p:sp>
        <p:nvSpPr>
          <p:cNvPr id="32" name="Shape 25"/>
          <p:cNvSpPr/>
          <p:nvPr/>
        </p:nvSpPr>
        <p:spPr>
          <a:xfrm>
            <a:off x="6547104" y="3685032"/>
            <a:ext cx="329184" cy="329184"/>
          </a:xfrm>
          <a:prstGeom prst="ellipse">
            <a:avLst/>
          </a:prstGeom>
          <a:solidFill>
            <a:srgbClr val="0B1B36"/>
          </a:solidFill>
          <a:ln w="7620">
            <a:solidFill>
              <a:srgbClr val="C9A227"/>
            </a:solidFill>
            <a:prstDash val="solid"/>
          </a:ln>
        </p:spPr>
      </p:sp>
      <p:pic>
        <p:nvPicPr>
          <p:cNvPr id="33" name="Image 5" descr="/home/claude/work/icons_oildrum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3785616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22592" y="3621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Commodity Traders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7022592" y="39044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oil-trade invoicing shifts that affect pricing and settlement risk.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6400800" y="448056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B2E57"/>
          </a:solidFill>
          <a:ln/>
        </p:spPr>
      </p:sp>
      <p:sp>
        <p:nvSpPr>
          <p:cNvPr id="37" name="Shape 29"/>
          <p:cNvSpPr/>
          <p:nvPr/>
        </p:nvSpPr>
        <p:spPr>
          <a:xfrm>
            <a:off x="6547104" y="4599432"/>
            <a:ext cx="329184" cy="329184"/>
          </a:xfrm>
          <a:prstGeom prst="ellipse">
            <a:avLst/>
          </a:prstGeom>
          <a:solidFill>
            <a:srgbClr val="0B1B36"/>
          </a:solidFill>
          <a:ln w="7620">
            <a:solidFill>
              <a:srgbClr val="C9A227"/>
            </a:solidFill>
            <a:prstDash val="solid"/>
          </a:ln>
        </p:spPr>
      </p:sp>
      <p:pic>
        <p:nvPicPr>
          <p:cNvPr id="38" name="Image 6" descr="/home/claude/work/icons_balance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4700016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22592" y="4535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Treasury &amp; Risk Teams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7022592" y="48188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C3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Better-informed FX exposure and currency-hedging decisions.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640080" y="553212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B2E57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1005840" y="5532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E8CE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“De-dollarization is real, structural, and gradual — a multipolar drift, not a dollar collapse.”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640080" y="62453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 Infant  —  Petrodollar &amp; De-dollarization Analysis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2026-08-05T02:40:55Z</dcterms:created>
  <dcterms:modified xsi:type="dcterms:W3CDTF">2026-08-05T02:40:55Z</dcterms:modified>
</cp:coreProperties>
</file>